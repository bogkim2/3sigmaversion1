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13453" r:id="rId2"/>
    <p:sldId id="2147472717" r:id="rId3"/>
    <p:sldId id="2147472718" r:id="rId4"/>
    <p:sldId id="2147472719" r:id="rId5"/>
    <p:sldId id="2147472720" r:id="rId6"/>
    <p:sldId id="2147472721" r:id="rId7"/>
    <p:sldId id="2147472722" r:id="rId8"/>
    <p:sldId id="2147472723" r:id="rId9"/>
    <p:sldId id="2147472724" r:id="rId10"/>
    <p:sldId id="2147472747" r:id="rId11"/>
    <p:sldId id="2147472748" r:id="rId12"/>
    <p:sldId id="2147472725" r:id="rId13"/>
    <p:sldId id="2147472726" r:id="rId14"/>
    <p:sldId id="2147472727" r:id="rId15"/>
    <p:sldId id="2147472728" r:id="rId16"/>
    <p:sldId id="2147472730" r:id="rId17"/>
    <p:sldId id="2147472731" r:id="rId18"/>
    <p:sldId id="2147472732" r:id="rId19"/>
    <p:sldId id="2147472734" r:id="rId20"/>
    <p:sldId id="2147472735" r:id="rId21"/>
    <p:sldId id="2147472736" r:id="rId22"/>
    <p:sldId id="2147472737" r:id="rId23"/>
    <p:sldId id="2147472738" r:id="rId24"/>
    <p:sldId id="2147472739" r:id="rId25"/>
    <p:sldId id="2147472740" r:id="rId26"/>
    <p:sldId id="2147472741" r:id="rId27"/>
    <p:sldId id="2147472742" r:id="rId28"/>
    <p:sldId id="2147472743" r:id="rId29"/>
    <p:sldId id="2147472744" r:id="rId30"/>
    <p:sldId id="2147472745" r:id="rId31"/>
    <p:sldId id="214747274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527" autoAdjust="0"/>
  </p:normalViewPr>
  <p:slideViewPr>
    <p:cSldViewPr snapToGrid="0">
      <p:cViewPr varScale="1">
        <p:scale>
          <a:sx n="93" d="100"/>
          <a:sy n="93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63AB6-B14B-43A7-92BD-386DD52593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96763-C3CC-44F3-B6E5-E08F3852C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6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8900" y="742950"/>
            <a:ext cx="6629400" cy="37290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altLang="en-US">
              <a:ea typeface="ＭＳ Ｐゴシック" pitchFamily="34" charset="-128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9AE91E-F322-4F6E-8401-E1FEADDC4859}" type="slidenum">
              <a:rPr lang="ja-JP" altLang="en-US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84806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6F56-7ACB-02E5-39DD-CD4C919E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442F92AE-E05D-DA0E-1A69-DBB4868714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8900" y="742950"/>
            <a:ext cx="6629400" cy="37290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922C9E8A-D4EA-238F-EE0F-E7FAFC0561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altLang="en-US">
              <a:ea typeface="ＭＳ Ｐゴシック" pitchFamily="34" charset="-128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A78513F-640E-4609-C9C9-3E7B3FD9F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79AE91E-F322-4F6E-8401-E1FEADDC4859}" type="slidenum">
              <a:rPr lang="ja-JP" altLang="en-US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4220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3DD4-26C1-6774-C8DA-61FA5D74D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AA6A0-7F15-D1CC-32F8-52F426867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DA71A-2CFD-45B9-AA47-DFEC12AD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6CA97-8994-1A38-F21D-69106C60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14F79-01FE-8CCE-34DA-B454DF0B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8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2AD3-E2ED-E53A-BD2C-5D7F5999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4BD92-7942-85ED-1E8A-FF39A421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256B4-ABD6-E658-9024-4C2CEFB2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F89AC-4D02-DEF0-F354-C5075B15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DA418-87AF-22E9-3D0C-2B055EDA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2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E7C0-CB3E-24D2-E229-B795B104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62D09-738C-A237-26CD-932C205C3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F13C8-C5A5-6F16-AA20-16392959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25883-0C10-EA62-34D3-385DCC33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23614-F084-9E1E-5615-D23CFBFC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0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3C04-8A40-040D-DC51-00BDAEF9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8FA4B-469B-860D-CCA4-AC33059B4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8579D-DC76-E73A-A529-0B01B3E56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168FE-7A39-0E87-EA38-F09B77AE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FE88B-C58B-87A7-4DBE-D601905C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D9CE9-CC1E-A4BE-308C-51C8CAD8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4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D274-7125-A57D-EE75-68FD05DA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14C50-67CE-3CFA-D4B8-4150926F0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8B130-5C8F-2F91-B094-2B02C827D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028FB-CA2A-8D84-5C75-4B9C0CAE4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15F61-3329-44D6-2EA6-4D4A73EC5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DA244-2944-E568-9448-1B6CD1B1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6762E-820B-A320-F6A1-EF4B1809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D6730-4288-6D8E-A204-4930FE53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1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BD8A-49C7-61CF-37D6-63923588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02398-B593-F0CE-62A4-E500B75C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6F283-7027-67B0-14B1-E7653754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1CFC3-BC1E-15CE-1ABB-A82DFB2A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4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3A051-95B0-1296-5223-13F0A1E9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88C41-5B40-5DF9-4BED-D406EE76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68310-B354-6191-9167-CDA902D7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8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F52E-4982-A403-05EA-725B519E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38F91-F7DD-92CB-E0BF-F845E4095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9BC86-5166-CE6A-84E1-C657FD56F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BA0BD-DEA3-3253-114B-21EDFB15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6D40A-8EF3-96D2-599B-6CCCF10B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2D31B-A511-65B3-25BB-1874D41A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4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92CA-DF01-542E-A253-5ECEEFEF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062A97-779A-A220-4084-9851ABE37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B9E2A-2274-7F00-8211-F9CD96785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DD367-E611-448F-9752-CFE4C293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BFAC1-87E6-C183-7599-7D4B5819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1842-25AA-7EEB-980E-946658A9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3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7DDF-9A54-AB1C-5893-E7F75865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B06ED-B1C9-E050-E0FA-AA6C343CF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91DA5-321B-A498-87D0-76CEB9CB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6B00-5BB0-8654-877F-6D21DFF6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4A33-12E5-D9EA-E4C0-05A8C24F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2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68264-8CE9-28BB-1783-A36C201A7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ACE0E-D01B-FBB2-0C17-A50AAFB8F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AB23-ABCD-5975-BE44-B1F7B496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F6444-E812-2413-3480-D23CB4EC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7EDCE-5949-8AC5-4FE5-B5F41BE3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99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8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12278784" cy="690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テキスト ボックス 4"/>
          <p:cNvSpPr txBox="1"/>
          <p:nvPr userDrawn="1"/>
        </p:nvSpPr>
        <p:spPr>
          <a:xfrm>
            <a:off x="10306052" y="276226"/>
            <a:ext cx="1604433" cy="27622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de-DE" altLang="ja-JP" sz="1200">
                <a:solidFill>
                  <a:srgbClr val="EC6D74"/>
                </a:solidFill>
                <a:latin typeface="Verdana" pitchFamily="34" charset="0"/>
                <a:ea typeface="ＭＳ Ｐゴシック" pitchFamily="34" charset="-128"/>
              </a:rPr>
              <a:t>Confidential</a:t>
            </a:r>
            <a:endParaRPr lang="ja-JP" altLang="en-US" sz="1200">
              <a:solidFill>
                <a:srgbClr val="EC6D74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2084917" y="2726856"/>
            <a:ext cx="9497483" cy="7200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00499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41002" y="6584953"/>
            <a:ext cx="1435100" cy="9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91014" y="201889"/>
            <a:ext cx="10828940" cy="49978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0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0670966" y="175685"/>
            <a:ext cx="723900" cy="33231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ea typeface="メイリオ" panose="020B0604030504040204" pitchFamily="50" charset="-128"/>
              </a:defRPr>
            </a:lvl1pPr>
          </a:lstStyle>
          <a:p>
            <a:fld id="{A8980928-34EB-4F95-AD2D-A3A6D11D4E98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quarter" idx="12"/>
          </p:nvPr>
        </p:nvSpPr>
        <p:spPr>
          <a:xfrm>
            <a:off x="614695" y="1524000"/>
            <a:ext cx="10828004" cy="4673600"/>
          </a:xfrm>
        </p:spPr>
        <p:txBody>
          <a:bodyPr/>
          <a:lstStyle>
            <a:lvl1pPr>
              <a:defRPr sz="21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角丸四角形 10"/>
          <p:cNvSpPr/>
          <p:nvPr userDrawn="1"/>
        </p:nvSpPr>
        <p:spPr bwMode="ltGray">
          <a:xfrm>
            <a:off x="11394864" y="238125"/>
            <a:ext cx="483869" cy="2690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</a:rPr>
              <a:t>秘</a:t>
            </a:r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679" y="6429551"/>
            <a:ext cx="1193452" cy="3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0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512CA-1DE5-A895-892D-210A0263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4814E-F3B0-5C58-54FD-DB5D174B2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C25DB-3F27-1AF4-340E-0F8217E1F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A0047-E584-425F-92A9-1E3A12862C2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E1215-2F00-1861-81C5-68B5791F4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50502-C386-C6CD-7CB5-3576A4294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3051E-1CA6-4283-98BE-F29A270C1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8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2"/>
          <p:cNvSpPr>
            <a:spLocks noGrp="1"/>
          </p:cNvSpPr>
          <p:nvPr>
            <p:ph type="title"/>
          </p:nvPr>
        </p:nvSpPr>
        <p:spPr>
          <a:xfrm>
            <a:off x="2186481" y="1529866"/>
            <a:ext cx="8278813" cy="2827337"/>
          </a:xfrm>
        </p:spPr>
        <p:txBody>
          <a:bodyPr>
            <a:norm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Helvetica Neue Light"/>
              </a:rPr>
              <a:t>PE MO – Checker Process</a:t>
            </a:r>
            <a:br>
              <a:rPr lang="en-GB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Helvetica Neue Light"/>
              </a:rPr>
            </a:br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Part 1: Prepare DCR Format</a:t>
            </a:r>
            <a:endParaRPr lang="en-US" alt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74709-AF9E-F8AF-7934-900D83AADC2B}"/>
              </a:ext>
            </a:extLst>
          </p:cNvPr>
          <p:cNvSpPr/>
          <p:nvPr/>
        </p:nvSpPr>
        <p:spPr>
          <a:xfrm>
            <a:off x="121366" y="5138595"/>
            <a:ext cx="3894952" cy="379078"/>
          </a:xfrm>
          <a:prstGeom prst="rect">
            <a:avLst/>
          </a:prstGeom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0" marR="0" indent="228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685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1143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1600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ja-JP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Prepared by Le Quang Vinh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BCC9E3-6FB9-F8D8-67D6-E86908625A85}"/>
              </a:ext>
            </a:extLst>
          </p:cNvPr>
          <p:cNvSpPr/>
          <p:nvPr/>
        </p:nvSpPr>
        <p:spPr>
          <a:xfrm>
            <a:off x="121366" y="5517673"/>
            <a:ext cx="3894952" cy="379078"/>
          </a:xfrm>
          <a:prstGeom prst="rect">
            <a:avLst/>
          </a:prstGeom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0" marR="0" indent="228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685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1143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1600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ja-JP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December 27, 2025</a:t>
            </a:r>
          </a:p>
        </p:txBody>
      </p:sp>
    </p:spTree>
    <p:extLst>
      <p:ext uri="{BB962C8B-B14F-4D97-AF65-F5344CB8AC3E}">
        <p14:creationId xmlns:p14="http://schemas.microsoft.com/office/powerpoint/2010/main" val="124781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68CC7-5F38-CDD6-6BF5-E00F4832794F}"/>
              </a:ext>
            </a:extLst>
          </p:cNvPr>
          <p:cNvSpPr txBox="1"/>
          <p:nvPr/>
        </p:nvSpPr>
        <p:spPr>
          <a:xfrm>
            <a:off x="0" y="224588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I. JIG Data from Maker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13FCCF-0152-9AAB-55A4-2E062F5A9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1" y="1255319"/>
            <a:ext cx="5648415" cy="47882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1434A1-0EAD-DD44-A938-DAABF5360B0D}"/>
              </a:ext>
            </a:extLst>
          </p:cNvPr>
          <p:cNvSpPr txBox="1"/>
          <p:nvPr/>
        </p:nvSpPr>
        <p:spPr>
          <a:xfrm>
            <a:off x="0" y="81438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of Jig Data for Yamaha Machine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11355B-3E3E-4D8E-57BA-A8B5DD7B3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64" y="1355651"/>
            <a:ext cx="5944430" cy="1848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59C753-7D73-CFA9-7FBF-AC07453431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95"/>
          <a:stretch/>
        </p:blipFill>
        <p:spPr>
          <a:xfrm>
            <a:off x="6109864" y="3317000"/>
            <a:ext cx="5944430" cy="962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2769E1-7B84-A913-6836-D1CA338CF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917" y="4392400"/>
            <a:ext cx="5925377" cy="1114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7175AF-97B3-3F89-1A91-237CC17D59C0}"/>
              </a:ext>
            </a:extLst>
          </p:cNvPr>
          <p:cNvSpPr txBox="1"/>
          <p:nvPr/>
        </p:nvSpPr>
        <p:spPr>
          <a:xfrm>
            <a:off x="6109864" y="814386"/>
            <a:ext cx="594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of Jig Data for Taiyo Machine</a:t>
            </a:r>
          </a:p>
        </p:txBody>
      </p:sp>
    </p:spTree>
    <p:extLst>
      <p:ext uri="{BB962C8B-B14F-4D97-AF65-F5344CB8AC3E}">
        <p14:creationId xmlns:p14="http://schemas.microsoft.com/office/powerpoint/2010/main" val="420294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FA4D-2FD7-42C1-1CB5-8C02B6FF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91653-1644-66D3-2B35-CE493D68F916}"/>
              </a:ext>
            </a:extLst>
          </p:cNvPr>
          <p:cNvSpPr txBox="1"/>
          <p:nvPr/>
        </p:nvSpPr>
        <p:spPr>
          <a:xfrm>
            <a:off x="-205483" y="141149"/>
            <a:ext cx="613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Yamaha we only use Net File for Address Pin and 4W Pin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CF7C4-49B2-E056-E84A-1C7A329F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53" r="20405" b="84960"/>
          <a:stretch/>
        </p:blipFill>
        <p:spPr>
          <a:xfrm>
            <a:off x="82193" y="610018"/>
            <a:ext cx="4830013" cy="282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E8456-EC55-1054-8DA5-49D920508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3" y="1078887"/>
            <a:ext cx="2467319" cy="40391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8345FA-47FE-B49A-5B71-1C10F762E5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09"/>
          <a:stretch/>
        </p:blipFill>
        <p:spPr>
          <a:xfrm>
            <a:off x="2654466" y="1078888"/>
            <a:ext cx="2257740" cy="40391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40BC9-4261-466B-248B-DC0FC9D32A4F}"/>
              </a:ext>
            </a:extLst>
          </p:cNvPr>
          <p:cNvSpPr txBox="1"/>
          <p:nvPr/>
        </p:nvSpPr>
        <p:spPr>
          <a:xfrm>
            <a:off x="6613622" y="141149"/>
            <a:ext cx="566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Taiyo we only use DS100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5BAA48-CD63-B353-85D9-2D10C1522D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504" r="2195" b="41110"/>
          <a:stretch/>
        </p:blipFill>
        <p:spPr>
          <a:xfrm>
            <a:off x="6329763" y="604294"/>
            <a:ext cx="5506066" cy="3693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C37EAC-8B8E-29DA-A35E-F626DADDC002}"/>
              </a:ext>
            </a:extLst>
          </p:cNvPr>
          <p:cNvSpPr txBox="1"/>
          <p:nvPr/>
        </p:nvSpPr>
        <p:spPr>
          <a:xfrm>
            <a:off x="6328932" y="1067439"/>
            <a:ext cx="5660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DS100 we use 2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BLK is for Address Pin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WDT is for 4W Pin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8AD9F1-BCDD-B97F-965B-6673BBDC02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455"/>
          <a:stretch/>
        </p:blipFill>
        <p:spPr>
          <a:xfrm>
            <a:off x="6328932" y="1959683"/>
            <a:ext cx="5506897" cy="8197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006913-E495-244C-51B0-694E7DBBE5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932" y="2810484"/>
            <a:ext cx="2324424" cy="3943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C77055-A69D-7CF5-F474-41A489CD20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5337"/>
          <a:stretch/>
        </p:blipFill>
        <p:spPr>
          <a:xfrm>
            <a:off x="8893580" y="2810484"/>
            <a:ext cx="2353003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68B11-BD85-C9A2-4A4B-05BE9F6F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81E95D-B7F2-7989-0130-C63DB075FE09}"/>
              </a:ext>
            </a:extLst>
          </p:cNvPr>
          <p:cNvSpPr txBox="1"/>
          <p:nvPr/>
        </p:nvSpPr>
        <p:spPr>
          <a:xfrm>
            <a:off x="119742" y="184935"/>
            <a:ext cx="7783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ERS (Engineering Requirement Specification</a:t>
            </a:r>
          </a:p>
          <a:p>
            <a:r>
              <a:rPr lang="en-US" dirty="0"/>
              <a:t>     We will know the standard of customer for each item for serval NETS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27BF01-5BBE-693E-A59A-BEB84351B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698" y="2849973"/>
            <a:ext cx="4441371" cy="2374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51A324-CD4B-EDFD-D2BA-18EA1496F6B3}"/>
              </a:ext>
            </a:extLst>
          </p:cNvPr>
          <p:cNvSpPr txBox="1"/>
          <p:nvPr/>
        </p:nvSpPr>
        <p:spPr>
          <a:xfrm>
            <a:off x="111669" y="1157067"/>
            <a:ext cx="599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Normally Customer will send us the PDF file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5B95A-2D5D-C233-FC5B-63963BAD6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69" y="1549845"/>
            <a:ext cx="4441371" cy="2374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B061AF-00A7-9DEF-5AF5-A69A15CD8FF9}"/>
              </a:ext>
            </a:extLst>
          </p:cNvPr>
          <p:cNvSpPr txBox="1"/>
          <p:nvPr/>
        </p:nvSpPr>
        <p:spPr>
          <a:xfrm>
            <a:off x="6566899" y="1157067"/>
            <a:ext cx="56170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we will search for Electrical Design that contain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B2B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Subtrade PAD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USL, LSL (For some item they only control USL)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6F9EE-7368-F1F5-DD3F-4A0B3DACFC13}"/>
              </a:ext>
            </a:extLst>
          </p:cNvPr>
          <p:cNvSpPr txBox="1"/>
          <p:nvPr/>
        </p:nvSpPr>
        <p:spPr>
          <a:xfrm>
            <a:off x="125185" y="5818891"/>
            <a:ext cx="2873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*USL: Upper Standard Limit</a:t>
            </a:r>
          </a:p>
          <a:p>
            <a:r>
              <a:rPr lang="en-US" sz="1400" dirty="0"/>
              <a:t>*LSL: Lower Standard Limit</a:t>
            </a:r>
          </a:p>
        </p:txBody>
      </p:sp>
    </p:spTree>
    <p:extLst>
      <p:ext uri="{BB962C8B-B14F-4D97-AF65-F5344CB8AC3E}">
        <p14:creationId xmlns:p14="http://schemas.microsoft.com/office/powerpoint/2010/main" val="14554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24027-8764-95BA-8DF5-646DC768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9093C-5001-1B43-64FB-0C5B83E48268}"/>
              </a:ext>
            </a:extLst>
          </p:cNvPr>
          <p:cNvSpPr txBox="1"/>
          <p:nvPr/>
        </p:nvSpPr>
        <p:spPr>
          <a:xfrm>
            <a:off x="0" y="244834"/>
            <a:ext cx="938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Usually DE will convert PDF file of Customer to Excel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166E0-FC69-3437-01A2-A3F3931C6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50" y="712443"/>
            <a:ext cx="4001058" cy="885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D2A98D-5BA4-8DDA-418A-3B305703E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02"/>
          <a:stretch/>
        </p:blipFill>
        <p:spPr>
          <a:xfrm>
            <a:off x="297950" y="1794946"/>
            <a:ext cx="10089222" cy="436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2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FDDF-CC6E-57DC-B457-8D29A9EE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3BFCA5-BAE4-1C1D-4627-D41FDE930F04}"/>
              </a:ext>
            </a:extLst>
          </p:cNvPr>
          <p:cNvSpPr txBox="1"/>
          <p:nvPr/>
        </p:nvSpPr>
        <p:spPr>
          <a:xfrm>
            <a:off x="-1" y="17821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  <a:p>
            <a:r>
              <a:rPr lang="en-US" dirty="0"/>
              <a:t>     1. Copy all 4wire pair data and address Image from DE Requirement file to DE Requirement Sheet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78D54-EDF8-60B9-0009-2960BFFD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2" y="3853791"/>
            <a:ext cx="5411269" cy="24956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7B499D-F6E4-7E50-5854-E386E4893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061" y="3824661"/>
            <a:ext cx="5335069" cy="2524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EEE0E-E4BE-DB29-9360-125A6E817775}"/>
              </a:ext>
            </a:extLst>
          </p:cNvPr>
          <p:cNvSpPr txBox="1"/>
          <p:nvPr/>
        </p:nvSpPr>
        <p:spPr>
          <a:xfrm>
            <a:off x="6629861" y="3426172"/>
            <a:ext cx="54112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After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5D3CA-31A1-7920-C303-D029978A426D}"/>
              </a:ext>
            </a:extLst>
          </p:cNvPr>
          <p:cNvSpPr txBox="1"/>
          <p:nvPr/>
        </p:nvSpPr>
        <p:spPr>
          <a:xfrm>
            <a:off x="188972" y="3426172"/>
            <a:ext cx="54112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Before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D26C90-0D75-7870-0EC5-23ED118EC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314" y="920560"/>
            <a:ext cx="5449369" cy="25084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928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26F2C-5F02-5697-5B7C-D6AE5824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F9B523-BC67-EF50-B9BC-2627854EBA26}"/>
              </a:ext>
            </a:extLst>
          </p:cNvPr>
          <p:cNvSpPr txBox="1"/>
          <p:nvPr/>
        </p:nvSpPr>
        <p:spPr>
          <a:xfrm>
            <a:off x="-1" y="17821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6A561D-6750-3948-3E49-30368197977C}"/>
              </a:ext>
            </a:extLst>
          </p:cNvPr>
          <p:cNvSpPr txBox="1"/>
          <p:nvPr/>
        </p:nvSpPr>
        <p:spPr>
          <a:xfrm>
            <a:off x="308225" y="56504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Copy all pin to Input check pin (This the sheet that we use to compare with Jig data of Maker)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72AFD5-8E14-8A57-F708-CB621CD52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5" y="1228883"/>
            <a:ext cx="4565798" cy="33411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1F715-B05A-D86A-AF8E-68CE4D79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5" y="1228883"/>
            <a:ext cx="3422798" cy="381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63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F92F-043B-B7E8-465A-20C18F77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B3F9D6-D779-DCE3-C204-46A8EE70E649}"/>
              </a:ext>
            </a:extLst>
          </p:cNvPr>
          <p:cNvSpPr txBox="1"/>
          <p:nvPr/>
        </p:nvSpPr>
        <p:spPr>
          <a:xfrm>
            <a:off x="-1" y="17821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68D0F-9328-6679-4C29-720A771AFDEA}"/>
              </a:ext>
            </a:extLst>
          </p:cNvPr>
          <p:cNvSpPr txBox="1"/>
          <p:nvPr/>
        </p:nvSpPr>
        <p:spPr>
          <a:xfrm>
            <a:off x="287291" y="506952"/>
            <a:ext cx="34673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3.1 Open Jig Data from Maker</a:t>
            </a:r>
          </a:p>
          <a:p>
            <a:r>
              <a:rPr lang="en-US" dirty="0"/>
              <a:t>(This item runs on </a:t>
            </a:r>
            <a:r>
              <a:rPr lang="en-US" dirty="0">
                <a:solidFill>
                  <a:srgbClr val="FF0000"/>
                </a:solidFill>
              </a:rPr>
              <a:t>Taiyo Machine </a:t>
            </a:r>
          </a:p>
          <a:p>
            <a:r>
              <a:rPr lang="en-US" dirty="0"/>
              <a:t>-&gt; open </a:t>
            </a:r>
            <a:r>
              <a:rPr lang="en-US" dirty="0">
                <a:solidFill>
                  <a:srgbClr val="FF0000"/>
                </a:solidFill>
              </a:rPr>
              <a:t>BLK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WDT</a:t>
            </a:r>
            <a:r>
              <a:rPr lang="en-US" dirty="0"/>
              <a:t> File)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Copy address pin from BLK to “PIN”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first column is number so we will delete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Convert all data into 1 row.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Paste data in Address of “Input Check Pin” sheet and all the pin will automatically calculated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713E48-12F5-3143-0BBB-52A63DDE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02" y="506952"/>
            <a:ext cx="1916073" cy="2031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27316B-ADE1-43B5-3591-82ACC5D9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276" y="631469"/>
            <a:ext cx="2534004" cy="11666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696F55-D1E4-5A26-A61B-C7C27D556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182" y="631468"/>
            <a:ext cx="2535018" cy="1166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529051-B158-7254-169B-200C079B66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492"/>
          <a:stretch/>
        </p:blipFill>
        <p:spPr>
          <a:xfrm>
            <a:off x="5947325" y="2571475"/>
            <a:ext cx="6036021" cy="6481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56B972-1787-EA93-072A-4895824798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9591"/>
          <a:stretch/>
        </p:blipFill>
        <p:spPr>
          <a:xfrm>
            <a:off x="4685066" y="3923272"/>
            <a:ext cx="7334861" cy="648105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A0FDDECB-DAD6-A3EB-25DA-6211667DC776}"/>
              </a:ext>
            </a:extLst>
          </p:cNvPr>
          <p:cNvSpPr/>
          <p:nvPr/>
        </p:nvSpPr>
        <p:spPr>
          <a:xfrm rot="16200000">
            <a:off x="5537874" y="1153511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A37D850-5F4C-F501-E5FE-15FD216D53F7}"/>
              </a:ext>
            </a:extLst>
          </p:cNvPr>
          <p:cNvSpPr/>
          <p:nvPr/>
        </p:nvSpPr>
        <p:spPr>
          <a:xfrm rot="16200000">
            <a:off x="8864093" y="1159408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A65FF5C-8AFA-D36D-3594-7CE6D4D65943}"/>
              </a:ext>
            </a:extLst>
          </p:cNvPr>
          <p:cNvSpPr/>
          <p:nvPr/>
        </p:nvSpPr>
        <p:spPr>
          <a:xfrm>
            <a:off x="10320239" y="2046771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1F1265D-A547-FA63-43B1-B086DAF39DEC}"/>
              </a:ext>
            </a:extLst>
          </p:cNvPr>
          <p:cNvSpPr/>
          <p:nvPr/>
        </p:nvSpPr>
        <p:spPr>
          <a:xfrm>
            <a:off x="10342965" y="3453747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6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8CF471-2238-8585-462F-10F6132E13FA}"/>
              </a:ext>
            </a:extLst>
          </p:cNvPr>
          <p:cNvSpPr txBox="1"/>
          <p:nvPr/>
        </p:nvSpPr>
        <p:spPr>
          <a:xfrm>
            <a:off x="256356" y="559418"/>
            <a:ext cx="41820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4.1 4W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Copy 4W pin from </a:t>
            </a:r>
            <a:r>
              <a:rPr lang="en-US" dirty="0">
                <a:solidFill>
                  <a:srgbClr val="FF0000"/>
                </a:solidFill>
              </a:rPr>
              <a:t>WDT</a:t>
            </a:r>
            <a:r>
              <a:rPr lang="en-US" dirty="0"/>
              <a:t> to “PIN”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item have 45 Net so when we paste into excel, we will numbered sequential from 1 to 45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Convert all data into 1 row (the same like address pin)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Paste in Orange Area (this is for 4W pin of Maker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Click “Judge(Check Pin)” Sheet to confirm OK or 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5C30B-0838-1738-9792-0BEB5342F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395"/>
          <a:stretch/>
        </p:blipFill>
        <p:spPr>
          <a:xfrm>
            <a:off x="4585289" y="511667"/>
            <a:ext cx="1286133" cy="2536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1762F3-16EF-B516-4A71-CABD5C765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857"/>
          <a:stretch/>
        </p:blipFill>
        <p:spPr>
          <a:xfrm>
            <a:off x="6523757" y="475790"/>
            <a:ext cx="2476024" cy="2536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9902B6-5112-BE8A-86B3-BAA7D72FC3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37"/>
          <a:stretch/>
        </p:blipFill>
        <p:spPr>
          <a:xfrm>
            <a:off x="9481125" y="541104"/>
            <a:ext cx="2361331" cy="2536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110251-CA21-DB8F-FC8F-404C1E7F36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406"/>
          <a:stretch/>
        </p:blipFill>
        <p:spPr>
          <a:xfrm>
            <a:off x="4220815" y="3596085"/>
            <a:ext cx="7971185" cy="293828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619C9246-BE2F-774F-21AA-ACBB8A19D500}"/>
              </a:ext>
            </a:extLst>
          </p:cNvPr>
          <p:cNvSpPr/>
          <p:nvPr/>
        </p:nvSpPr>
        <p:spPr>
          <a:xfrm rot="16200000">
            <a:off x="5840135" y="1447745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E363D7B-E2E9-AC9C-176E-0A4FF09A409F}"/>
              </a:ext>
            </a:extLst>
          </p:cNvPr>
          <p:cNvSpPr/>
          <p:nvPr/>
        </p:nvSpPr>
        <p:spPr>
          <a:xfrm rot="16200000">
            <a:off x="8864500" y="1447745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EA1FF08-C173-F00D-19F5-8772FA63179C}"/>
              </a:ext>
            </a:extLst>
          </p:cNvPr>
          <p:cNvSpPr/>
          <p:nvPr/>
        </p:nvSpPr>
        <p:spPr>
          <a:xfrm>
            <a:off x="10129017" y="3170547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EA16C-C15B-A959-D67B-EF3C8E713C12}"/>
              </a:ext>
            </a:extLst>
          </p:cNvPr>
          <p:cNvSpPr txBox="1"/>
          <p:nvPr/>
        </p:nvSpPr>
        <p:spPr>
          <a:xfrm>
            <a:off x="-1" y="17821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</p:spTree>
    <p:extLst>
      <p:ext uri="{BB962C8B-B14F-4D97-AF65-F5344CB8AC3E}">
        <p14:creationId xmlns:p14="http://schemas.microsoft.com/office/powerpoint/2010/main" val="316988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4E95AA-E70E-43CB-2066-0718A394B06E}"/>
              </a:ext>
            </a:extLst>
          </p:cNvPr>
          <p:cNvSpPr txBox="1"/>
          <p:nvPr/>
        </p:nvSpPr>
        <p:spPr>
          <a:xfrm>
            <a:off x="0" y="14738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DA385-BAF1-3044-F450-D90AB08A2657}"/>
              </a:ext>
            </a:extLst>
          </p:cNvPr>
          <p:cNvSpPr txBox="1"/>
          <p:nvPr/>
        </p:nvSpPr>
        <p:spPr>
          <a:xfrm>
            <a:off x="287291" y="506952"/>
            <a:ext cx="37093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3.2 Open Jig Data from Maker</a:t>
            </a:r>
          </a:p>
          <a:p>
            <a:r>
              <a:rPr lang="en-US" dirty="0"/>
              <a:t>(This item runs on </a:t>
            </a:r>
            <a:r>
              <a:rPr lang="en-US" dirty="0">
                <a:solidFill>
                  <a:srgbClr val="FF0000"/>
                </a:solidFill>
              </a:rPr>
              <a:t>Yamaha Machine </a:t>
            </a:r>
          </a:p>
          <a:p>
            <a:r>
              <a:rPr lang="en-US" dirty="0"/>
              <a:t>-&gt; open </a:t>
            </a:r>
            <a:r>
              <a:rPr lang="en-US" dirty="0">
                <a:solidFill>
                  <a:srgbClr val="FF0000"/>
                </a:solidFill>
              </a:rPr>
              <a:t>NET </a:t>
            </a:r>
            <a:r>
              <a:rPr lang="en-US" dirty="0"/>
              <a:t>File)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Copy address </a:t>
            </a:r>
            <a:r>
              <a:rPr lang="en-US" dirty="0" err="1"/>
              <a:t>address</a:t>
            </a:r>
            <a:r>
              <a:rPr lang="en-US" dirty="0"/>
              <a:t> pin to “PIN”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text to column to separate number with comma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Convert all data into 1 row.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Paste data in Address of “Input Check Pin” sheet and all the pin will automatically calculated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3E1067-D895-F18B-0E96-F45C15015C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571"/>
          <a:stretch/>
        </p:blipFill>
        <p:spPr>
          <a:xfrm>
            <a:off x="4036106" y="506952"/>
            <a:ext cx="2148937" cy="2619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857513-2DD8-1990-FB21-C8F706E3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372" y="506952"/>
            <a:ext cx="4243497" cy="2619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A3A663-494A-26FA-98B7-09E689CEE2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3261"/>
          <a:stretch/>
        </p:blipFill>
        <p:spPr>
          <a:xfrm>
            <a:off x="3825441" y="3867681"/>
            <a:ext cx="8125959" cy="555289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B0D4BB16-0F03-0B0D-2712-7EBE04290AA9}"/>
              </a:ext>
            </a:extLst>
          </p:cNvPr>
          <p:cNvSpPr/>
          <p:nvPr/>
        </p:nvSpPr>
        <p:spPr>
          <a:xfrm rot="16200000">
            <a:off x="6104256" y="1478524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746558C-C642-B903-67AE-E4F0CDC70AFE}"/>
              </a:ext>
            </a:extLst>
          </p:cNvPr>
          <p:cNvSpPr/>
          <p:nvPr/>
        </p:nvSpPr>
        <p:spPr>
          <a:xfrm>
            <a:off x="8554668" y="3297619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782E2D-8F46-BBC4-6BC0-B9F1E8EBA3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3350"/>
          <a:stretch/>
        </p:blipFill>
        <p:spPr>
          <a:xfrm>
            <a:off x="3825441" y="5157243"/>
            <a:ext cx="8125959" cy="1056796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23A14C48-57F1-06DF-6F4E-6C97471F7E32}"/>
              </a:ext>
            </a:extLst>
          </p:cNvPr>
          <p:cNvSpPr/>
          <p:nvPr/>
        </p:nvSpPr>
        <p:spPr>
          <a:xfrm>
            <a:off x="8554668" y="4601470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34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CA17-B5E5-322B-E29B-7F02EDC7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BBA43A-115F-90CF-99F0-5017F5BBC64F}"/>
              </a:ext>
            </a:extLst>
          </p:cNvPr>
          <p:cNvSpPr txBox="1"/>
          <p:nvPr/>
        </p:nvSpPr>
        <p:spPr>
          <a:xfrm>
            <a:off x="256356" y="559418"/>
            <a:ext cx="4182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4.2 4W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Copy 4W pin from </a:t>
            </a:r>
            <a:r>
              <a:rPr lang="en-US" dirty="0">
                <a:solidFill>
                  <a:srgbClr val="FF0000"/>
                </a:solidFill>
              </a:rPr>
              <a:t>NET</a:t>
            </a:r>
            <a:r>
              <a:rPr lang="en-US" dirty="0"/>
              <a:t> to “PIN”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Convert all group into 1 row (the same like address pin)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Paste in Orange Area (this is for 4W pin of Maker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Click “Judge(Check Pin)” Sheet to confirm OK or 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F7DBF1-A2ED-7801-CCDB-924EB59B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06"/>
          <a:stretch/>
        </p:blipFill>
        <p:spPr>
          <a:xfrm>
            <a:off x="4220815" y="3596085"/>
            <a:ext cx="7971185" cy="293828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74ADF464-35EA-DCEA-5BBC-2CD22A9C906E}"/>
              </a:ext>
            </a:extLst>
          </p:cNvPr>
          <p:cNvSpPr/>
          <p:nvPr/>
        </p:nvSpPr>
        <p:spPr>
          <a:xfrm rot="16200000">
            <a:off x="5840135" y="1447745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3570030-5FC0-1644-34BD-D56A59EABBD3}"/>
              </a:ext>
            </a:extLst>
          </p:cNvPr>
          <p:cNvSpPr/>
          <p:nvPr/>
        </p:nvSpPr>
        <p:spPr>
          <a:xfrm rot="16200000">
            <a:off x="8864500" y="1447745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D6CBF8B-A1B5-ABD8-586F-698AF1A5FE23}"/>
              </a:ext>
            </a:extLst>
          </p:cNvPr>
          <p:cNvSpPr/>
          <p:nvPr/>
        </p:nvSpPr>
        <p:spPr>
          <a:xfrm>
            <a:off x="10129017" y="3170547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067A9-3423-F84E-8536-4C930F56350A}"/>
              </a:ext>
            </a:extLst>
          </p:cNvPr>
          <p:cNvSpPr txBox="1"/>
          <p:nvPr/>
        </p:nvSpPr>
        <p:spPr>
          <a:xfrm>
            <a:off x="-1" y="17821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AD9D5-7642-248A-4A22-5BD9C5D99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812"/>
          <a:stretch/>
        </p:blipFill>
        <p:spPr>
          <a:xfrm>
            <a:off x="4435152" y="475790"/>
            <a:ext cx="1559925" cy="25367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A65F2B-9001-A0E6-8A03-73ECF7EED9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187"/>
          <a:stretch/>
        </p:blipFill>
        <p:spPr>
          <a:xfrm>
            <a:off x="6565188" y="475790"/>
            <a:ext cx="2393161" cy="25367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234ED7-518F-091F-9DA4-6C655D37A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554" y="427525"/>
            <a:ext cx="2346090" cy="25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2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1ACA59-91C6-9519-6503-59EF5885FF4B}"/>
              </a:ext>
            </a:extLst>
          </p:cNvPr>
          <p:cNvSpPr txBox="1"/>
          <p:nvPr/>
        </p:nvSpPr>
        <p:spPr>
          <a:xfrm>
            <a:off x="244194" y="484029"/>
            <a:ext cx="552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Check Pin between De Requirement and Maker</a:t>
            </a:r>
          </a:p>
          <a:p>
            <a:r>
              <a:rPr lang="en-US" dirty="0"/>
              <a:t>     If Judge is OK we will move to next step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F801B9-4161-E8A9-A045-48A606307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03" y="547544"/>
            <a:ext cx="4961890" cy="262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7B1438-859A-BCB1-A6D6-E60FFD678463}"/>
              </a:ext>
            </a:extLst>
          </p:cNvPr>
          <p:cNvSpPr txBox="1"/>
          <p:nvPr/>
        </p:nvSpPr>
        <p:spPr>
          <a:xfrm>
            <a:off x="572496" y="3507859"/>
            <a:ext cx="5523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Judge is NG we will double check to make sure we collect the right data of both De Requirement and Maker</a:t>
            </a:r>
          </a:p>
          <a:p>
            <a:r>
              <a:rPr lang="en-US" dirty="0"/>
              <a:t>If all the data we collect is correct we will feedback to Kim and Maker to confirm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15271-CAA8-1359-A7F8-58F7FF024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303" y="3507859"/>
            <a:ext cx="4961890" cy="25649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33FDC3-0E2F-A210-EB9A-85AE9EF59389}"/>
              </a:ext>
            </a:extLst>
          </p:cNvPr>
          <p:cNvSpPr txBox="1"/>
          <p:nvPr/>
        </p:nvSpPr>
        <p:spPr>
          <a:xfrm>
            <a:off x="-1" y="17821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</p:spTree>
    <p:extLst>
      <p:ext uri="{BB962C8B-B14F-4D97-AF65-F5344CB8AC3E}">
        <p14:creationId xmlns:p14="http://schemas.microsoft.com/office/powerpoint/2010/main" val="432717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F44E13-96CD-CE0B-9B3F-19761D79670F}"/>
              </a:ext>
            </a:extLst>
          </p:cNvPr>
          <p:cNvSpPr txBox="1"/>
          <p:nvPr/>
        </p:nvSpPr>
        <p:spPr>
          <a:xfrm>
            <a:off x="0" y="15148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28B22-7F3F-F500-D17C-A2BD327A574F}"/>
              </a:ext>
            </a:extLst>
          </p:cNvPr>
          <p:cNvSpPr txBox="1"/>
          <p:nvPr/>
        </p:nvSpPr>
        <p:spPr>
          <a:xfrm>
            <a:off x="264830" y="438753"/>
            <a:ext cx="5427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Copy all the data to “DCR”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Copy Net name and pin from DE Requirement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Copy Group pin from “Input Check Pin” Sheet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AD83D-6F84-EA59-0703-A92CF90A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847"/>
          <a:stretch/>
        </p:blipFill>
        <p:spPr>
          <a:xfrm>
            <a:off x="1446358" y="1362083"/>
            <a:ext cx="6487886" cy="2548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2BD08F-AAF3-6CCC-FEC6-918508AB5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43" y="4012721"/>
            <a:ext cx="6467801" cy="240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6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E6DCDE-32FD-D9A8-66D4-ECE25A3D9CB7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6FAC2-2DFA-5FDD-0BAB-661495753CA4}"/>
              </a:ext>
            </a:extLst>
          </p:cNvPr>
          <p:cNvSpPr txBox="1"/>
          <p:nvPr/>
        </p:nvSpPr>
        <p:spPr>
          <a:xfrm>
            <a:off x="330056" y="398053"/>
            <a:ext cx="7630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 Copy/Insert Vendor Spec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we only have PDF file, we will get Data from PDF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44064-286E-0400-133A-FC83414FD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143" y="176536"/>
            <a:ext cx="2579913" cy="19146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2F1599-1B90-664C-6A76-E65E7360720B}"/>
              </a:ext>
            </a:extLst>
          </p:cNvPr>
          <p:cNvSpPr txBox="1"/>
          <p:nvPr/>
        </p:nvSpPr>
        <p:spPr>
          <a:xfrm>
            <a:off x="330056" y="1681380"/>
            <a:ext cx="803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have excel file from DE team, copy all the data to “Vender Spec” Sheet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3CC6BC-BF51-3AE8-B32C-6B25504B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99" y="2208329"/>
            <a:ext cx="7434942" cy="1750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B4AB7-1145-6296-4AF8-57328F022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99" y="4407350"/>
            <a:ext cx="7434942" cy="17998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D36714-0839-863D-E39F-A1F0B9E158C0}"/>
              </a:ext>
            </a:extLst>
          </p:cNvPr>
          <p:cNvSpPr txBox="1"/>
          <p:nvPr/>
        </p:nvSpPr>
        <p:spPr>
          <a:xfrm>
            <a:off x="525998" y="3970809"/>
            <a:ext cx="736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1 column and combine Pin 1 &amp; Pin 2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82DBB83-E264-5215-FBAA-2280372D3E6F}"/>
              </a:ext>
            </a:extLst>
          </p:cNvPr>
          <p:cNvSpPr/>
          <p:nvPr/>
        </p:nvSpPr>
        <p:spPr>
          <a:xfrm>
            <a:off x="6130903" y="3996472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8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BD5F99-DEF8-F66D-559F-40B499984A5B}"/>
              </a:ext>
            </a:extLst>
          </p:cNvPr>
          <p:cNvSpPr txBox="1"/>
          <p:nvPr/>
        </p:nvSpPr>
        <p:spPr>
          <a:xfrm>
            <a:off x="211638" y="485899"/>
            <a:ext cx="9437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8. Insert ERS to DCR 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Vlookup</a:t>
            </a:r>
            <a:r>
              <a:rPr lang="en-US" dirty="0"/>
              <a:t> formula to insert 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Delete all #N/A using filter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DE2A2-013E-248A-FD16-D8EEB0D52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01"/>
          <a:stretch/>
        </p:blipFill>
        <p:spPr>
          <a:xfrm>
            <a:off x="211638" y="1809238"/>
            <a:ext cx="5157283" cy="3239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1858FF-A1BF-8948-1353-9E53B59B1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79" y="1903147"/>
            <a:ext cx="5157283" cy="3145615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BEB6E53C-8BAC-2691-1650-2E1114E61D95}"/>
              </a:ext>
            </a:extLst>
          </p:cNvPr>
          <p:cNvSpPr/>
          <p:nvPr/>
        </p:nvSpPr>
        <p:spPr>
          <a:xfrm rot="16200000">
            <a:off x="5686548" y="3324546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F4240-273D-5644-7D7E-F082BCA9DF6E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III. DCR Format</a:t>
            </a:r>
          </a:p>
        </p:txBody>
      </p:sp>
    </p:spTree>
    <p:extLst>
      <p:ext uri="{BB962C8B-B14F-4D97-AF65-F5344CB8AC3E}">
        <p14:creationId xmlns:p14="http://schemas.microsoft.com/office/powerpoint/2010/main" val="3845029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8EE9-ACB0-95B3-8F87-5DADF932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2">
            <a:extLst>
              <a:ext uri="{FF2B5EF4-FFF2-40B4-BE49-F238E27FC236}">
                <a16:creationId xmlns:a16="http://schemas.microsoft.com/office/drawing/2014/main" id="{81B79BC0-09D9-BCCF-FBE1-27FD6C12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481" y="1529866"/>
            <a:ext cx="8278813" cy="2827337"/>
          </a:xfrm>
        </p:spPr>
        <p:txBody>
          <a:bodyPr>
            <a:normAutofit/>
          </a:bodyPr>
          <a:lstStyle/>
          <a:p>
            <a:pPr algn="ctr">
              <a:spcBef>
                <a:spcPct val="50000"/>
              </a:spcBef>
            </a:pPr>
            <a:r>
              <a:rPr lang="en-GB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Helvetica Neue Light"/>
              </a:rPr>
              <a:t>PE MO – Checker Process</a:t>
            </a:r>
            <a:br>
              <a:rPr lang="en-GB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Helvetica Neue Light"/>
              </a:rPr>
            </a:br>
            <a:r>
              <a:rPr lang="en-US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Part 2: Calculate 3 Sigma</a:t>
            </a:r>
            <a:endParaRPr lang="en-US" altLang="en-US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6532D8-E515-5F2E-356E-50687CBE1213}"/>
              </a:ext>
            </a:extLst>
          </p:cNvPr>
          <p:cNvSpPr/>
          <p:nvPr/>
        </p:nvSpPr>
        <p:spPr>
          <a:xfrm>
            <a:off x="121366" y="5138595"/>
            <a:ext cx="3894952" cy="379078"/>
          </a:xfrm>
          <a:prstGeom prst="rect">
            <a:avLst/>
          </a:prstGeom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0" marR="0" indent="228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685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1143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1600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ja-JP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Prepared by Le Quang Vinh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59923B-AC3A-E359-521C-A752C5231D25}"/>
              </a:ext>
            </a:extLst>
          </p:cNvPr>
          <p:cNvSpPr/>
          <p:nvPr/>
        </p:nvSpPr>
        <p:spPr>
          <a:xfrm>
            <a:off x="121366" y="5517673"/>
            <a:ext cx="3894952" cy="379078"/>
          </a:xfrm>
          <a:prstGeom prst="rect">
            <a:avLst/>
          </a:prstGeom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0" marR="0" indent="228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685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1143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1600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ja-JP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December 27, 2025</a:t>
            </a:r>
          </a:p>
        </p:txBody>
      </p:sp>
    </p:spTree>
    <p:extLst>
      <p:ext uri="{BB962C8B-B14F-4D97-AF65-F5344CB8AC3E}">
        <p14:creationId xmlns:p14="http://schemas.microsoft.com/office/powerpoint/2010/main" val="2879977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BAD5-0FEE-184C-B637-28286187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701CCB-5231-79B9-9A10-DE0F7436486F}"/>
              </a:ext>
            </a:extLst>
          </p:cNvPr>
          <p:cNvSpPr txBox="1"/>
          <p:nvPr/>
        </p:nvSpPr>
        <p:spPr>
          <a:xfrm>
            <a:off x="0" y="485899"/>
            <a:ext cx="1075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Getting Etching &amp; S-Draw Specification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E047F-C87D-9B22-2FD1-4341CDD05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9" y="1833970"/>
            <a:ext cx="5479536" cy="34960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572FC2-5F25-FB99-9435-18C852C00A95}"/>
              </a:ext>
            </a:extLst>
          </p:cNvPr>
          <p:cNvSpPr txBox="1"/>
          <p:nvPr/>
        </p:nvSpPr>
        <p:spPr>
          <a:xfrm>
            <a:off x="148379" y="963895"/>
            <a:ext cx="5479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S-Draw we will know Which Net is Impedance and Impedance Spec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777EE-CB69-A75D-BA7C-51215B29CA72}"/>
              </a:ext>
            </a:extLst>
          </p:cNvPr>
          <p:cNvSpPr txBox="1"/>
          <p:nvPr/>
        </p:nvSpPr>
        <p:spPr>
          <a:xfrm>
            <a:off x="5861032" y="940219"/>
            <a:ext cx="6182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S-Draw we will know Impedance circuit width, Min Line circuit Width Spec, Copper thickness (We only use bottom spec of final good spec after ENIG (um) 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CB3536-142A-B982-987B-11D9B0451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75" y="4677602"/>
            <a:ext cx="6220744" cy="16533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6F4E9A-1CCF-48FC-D190-0E5CA7E14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875" y="1948537"/>
            <a:ext cx="6182587" cy="22562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9AAE0-15C9-674E-1632-8AF3890886B9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I. Specification for Impedance, Min Line, Other Net</a:t>
            </a:r>
          </a:p>
        </p:txBody>
      </p:sp>
    </p:spTree>
    <p:extLst>
      <p:ext uri="{BB962C8B-B14F-4D97-AF65-F5344CB8AC3E}">
        <p14:creationId xmlns:p14="http://schemas.microsoft.com/office/powerpoint/2010/main" val="4173642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681565-2BC6-4A1A-1D98-E75E277A8AEB}"/>
              </a:ext>
            </a:extLst>
          </p:cNvPr>
          <p:cNvSpPr txBox="1"/>
          <p:nvPr/>
        </p:nvSpPr>
        <p:spPr>
          <a:xfrm>
            <a:off x="156818" y="401844"/>
            <a:ext cx="547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Add Spec to “Form Measurement result file”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AB1FF-5A42-2EAE-3107-C5971179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2"/>
          <a:stretch/>
        </p:blipFill>
        <p:spPr>
          <a:xfrm>
            <a:off x="3645587" y="855231"/>
            <a:ext cx="2811784" cy="4365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7BB139-ACED-DB48-20D2-646F6DF8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00" b="4697"/>
          <a:stretch/>
        </p:blipFill>
        <p:spPr>
          <a:xfrm>
            <a:off x="156818" y="855232"/>
            <a:ext cx="2811784" cy="436590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072FE410-8A73-2F8A-AC31-96BAB34A5E1A}"/>
              </a:ext>
            </a:extLst>
          </p:cNvPr>
          <p:cNvSpPr/>
          <p:nvPr/>
        </p:nvSpPr>
        <p:spPr>
          <a:xfrm rot="16200000">
            <a:off x="2901192" y="2616755"/>
            <a:ext cx="685199" cy="3081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8BA2A-C58B-0E44-F965-55159026B407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I. Specification for Impedance, Min Line, Other Net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3AE0E-578F-6181-94E7-2FB7D06317E0}"/>
              </a:ext>
            </a:extLst>
          </p:cNvPr>
          <p:cNvSpPr txBox="1"/>
          <p:nvPr/>
        </p:nvSpPr>
        <p:spPr>
          <a:xfrm>
            <a:off x="6705081" y="485899"/>
            <a:ext cx="522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Add 9 Condition name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427735-29A1-5AE0-000F-471A6BB6F2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745"/>
          <a:stretch/>
        </p:blipFill>
        <p:spPr>
          <a:xfrm>
            <a:off x="7134356" y="855232"/>
            <a:ext cx="1956858" cy="20626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CF16E2-C9ED-6001-1AD6-C39319D764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745"/>
          <a:stretch/>
        </p:blipFill>
        <p:spPr>
          <a:xfrm>
            <a:off x="9448206" y="855231"/>
            <a:ext cx="2179379" cy="2062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D23739-285E-FA4C-D8EC-5039AD19773E}"/>
              </a:ext>
            </a:extLst>
          </p:cNvPr>
          <p:cNvSpPr txBox="1"/>
          <p:nvPr/>
        </p:nvSpPr>
        <p:spPr>
          <a:xfrm>
            <a:off x="6967351" y="3041672"/>
            <a:ext cx="5224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We have to confirm Min line at inner or outer by checking S-Draw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F237AB-8552-90F1-A7DA-DDAA0CFF469F}"/>
              </a:ext>
            </a:extLst>
          </p:cNvPr>
          <p:cNvGrpSpPr/>
          <p:nvPr/>
        </p:nvGrpSpPr>
        <p:grpSpPr>
          <a:xfrm>
            <a:off x="7104001" y="3734170"/>
            <a:ext cx="4931181" cy="2637931"/>
            <a:chOff x="354544" y="538519"/>
            <a:chExt cx="5360456" cy="280339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5DB95B-BF23-F302-9ABD-1AC424232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4544" y="538519"/>
              <a:ext cx="5204663" cy="280339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8021924-E828-89BA-9DCD-FEB971D561E7}"/>
                </a:ext>
              </a:extLst>
            </p:cNvPr>
            <p:cNvSpPr/>
            <p:nvPr/>
          </p:nvSpPr>
          <p:spPr>
            <a:xfrm>
              <a:off x="3940629" y="2068286"/>
              <a:ext cx="1774371" cy="5007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5719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182F3-2953-26DE-450C-FF45B2BDA064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I. Specification for Impedance, Min Line, Other Net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5091E-F308-863B-DDD1-A90C778CC542}"/>
              </a:ext>
            </a:extLst>
          </p:cNvPr>
          <p:cNvSpPr txBox="1"/>
          <p:nvPr/>
        </p:nvSpPr>
        <p:spPr>
          <a:xfrm>
            <a:off x="195944" y="485899"/>
            <a:ext cx="460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Add Result for each conditions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F8D8-DFC3-1EEA-244C-E17C94997292}"/>
              </a:ext>
            </a:extLst>
          </p:cNvPr>
          <p:cNvSpPr txBox="1"/>
          <p:nvPr/>
        </p:nvSpPr>
        <p:spPr>
          <a:xfrm>
            <a:off x="443900" y="855231"/>
            <a:ext cx="5944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Impedance we will have 9 file</a:t>
            </a:r>
          </a:p>
          <a:p>
            <a:r>
              <a:rPr lang="en-US" dirty="0"/>
              <a:t>Inside each file will have 32 results of Impedance resistance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4CA58-9DA2-243F-A9E0-E9E77BD52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97"/>
          <a:stretch/>
        </p:blipFill>
        <p:spPr>
          <a:xfrm>
            <a:off x="561512" y="1536682"/>
            <a:ext cx="889600" cy="2467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1EF9A1-23D2-EE38-F6FE-9A74C92F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123"/>
          <a:stretch/>
        </p:blipFill>
        <p:spPr>
          <a:xfrm>
            <a:off x="1717247" y="1536682"/>
            <a:ext cx="4404717" cy="24881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1BCD39-CD52-5869-4FF0-069AB7FB33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5"/>
          <a:stretch/>
        </p:blipFill>
        <p:spPr>
          <a:xfrm>
            <a:off x="6804860" y="2038804"/>
            <a:ext cx="4704389" cy="4702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EE6658-06D6-699F-7E7F-ED63C5E687A8}"/>
              </a:ext>
            </a:extLst>
          </p:cNvPr>
          <p:cNvSpPr txBox="1"/>
          <p:nvPr/>
        </p:nvSpPr>
        <p:spPr>
          <a:xfrm>
            <a:off x="6804860" y="855231"/>
            <a:ext cx="5555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Impedance we will have a combine file</a:t>
            </a:r>
          </a:p>
          <a:p>
            <a:r>
              <a:rPr lang="en-US" dirty="0"/>
              <a:t>Impedance (B1) we will take Circuit Width (Bottom) and Circuit height </a:t>
            </a:r>
          </a:p>
          <a:p>
            <a:r>
              <a:rPr lang="en-US" dirty="0"/>
              <a:t>Min line (B3) we will take Circuit Width (Bottom)</a:t>
            </a:r>
          </a:p>
        </p:txBody>
      </p:sp>
    </p:spTree>
    <p:extLst>
      <p:ext uri="{BB962C8B-B14F-4D97-AF65-F5344CB8AC3E}">
        <p14:creationId xmlns:p14="http://schemas.microsoft.com/office/powerpoint/2010/main" val="3037282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84D398-45FD-987A-949C-EC63F300C8B5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I. Specification for Impedance, Min Line, Other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75781-BA1C-8170-48E2-3A7A1C66B0F0}"/>
              </a:ext>
            </a:extLst>
          </p:cNvPr>
          <p:cNvSpPr txBox="1"/>
          <p:nvPr/>
        </p:nvSpPr>
        <p:spPr>
          <a:xfrm>
            <a:off x="205483" y="52077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Choose Conditions to calculate 3 sigma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F548F4-30E2-624A-DE76-7A42EBD0A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88" y="1332019"/>
            <a:ext cx="10726220" cy="4269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8017EE-CB9D-8899-0831-2C5AC6116EE9}"/>
              </a:ext>
            </a:extLst>
          </p:cNvPr>
          <p:cNvSpPr txBox="1"/>
          <p:nvPr/>
        </p:nvSpPr>
        <p:spPr>
          <a:xfrm>
            <a:off x="455488" y="926397"/>
            <a:ext cx="564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collect logfile base on conditions that judged OK</a:t>
            </a:r>
          </a:p>
        </p:txBody>
      </p:sp>
    </p:spTree>
    <p:extLst>
      <p:ext uri="{BB962C8B-B14F-4D97-AF65-F5344CB8AC3E}">
        <p14:creationId xmlns:p14="http://schemas.microsoft.com/office/powerpoint/2010/main" val="1770920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4D569-ECF6-1FDA-C616-6C54D7EE6BF9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ACDB1-7320-23C1-3133-DCC2B20C5266}"/>
              </a:ext>
            </a:extLst>
          </p:cNvPr>
          <p:cNvSpPr txBox="1"/>
          <p:nvPr/>
        </p:nvSpPr>
        <p:spPr>
          <a:xfrm>
            <a:off x="143838" y="485899"/>
            <a:ext cx="42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Yamaha we will collect .CSV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ECC64-86AB-206E-605D-2FD4B10587E6}"/>
              </a:ext>
            </a:extLst>
          </p:cNvPr>
          <p:cNvSpPr txBox="1"/>
          <p:nvPr/>
        </p:nvSpPr>
        <p:spPr>
          <a:xfrm>
            <a:off x="7724454" y="485899"/>
            <a:ext cx="421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Taiyo we will collect .TEXT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EFB787-E6C5-387B-0019-2DB267407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687" y="855231"/>
            <a:ext cx="4772804" cy="5572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63BF87-30B6-29FE-0163-3B8B99655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8" y="855230"/>
            <a:ext cx="4902795" cy="557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53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FF03FF-55AD-02AF-EE23-FA869C08AD32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7AF57-48C0-385E-4D02-E5AFE237AFDE}"/>
              </a:ext>
            </a:extLst>
          </p:cNvPr>
          <p:cNvSpPr txBox="1"/>
          <p:nvPr/>
        </p:nvSpPr>
        <p:spPr>
          <a:xfrm>
            <a:off x="133564" y="5856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Summarize logfile for Yamaha and Taiyo machine type we have 2 difference App for both machine type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91F101-50E5-2BB0-8DDA-2BCE8EBD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4" y="1891508"/>
            <a:ext cx="5980810" cy="3385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EE9D29-D364-F373-2193-51F809414C24}"/>
              </a:ext>
            </a:extLst>
          </p:cNvPr>
          <p:cNvSpPr txBox="1"/>
          <p:nvPr/>
        </p:nvSpPr>
        <p:spPr>
          <a:xfrm>
            <a:off x="248754" y="1489141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Taiyo Machine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672873-DD17-FD68-BA45-6A041999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03" y="1891508"/>
            <a:ext cx="4457867" cy="3414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1D05B4-2D56-79E9-34C1-9C552855500A}"/>
              </a:ext>
            </a:extLst>
          </p:cNvPr>
          <p:cNvSpPr txBox="1"/>
          <p:nvPr/>
        </p:nvSpPr>
        <p:spPr>
          <a:xfrm>
            <a:off x="7269403" y="1489141"/>
            <a:ext cx="4348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Yamaha Machine</a:t>
            </a:r>
          </a:p>
        </p:txBody>
      </p:sp>
    </p:spTree>
    <p:extLst>
      <p:ext uri="{BB962C8B-B14F-4D97-AF65-F5344CB8AC3E}">
        <p14:creationId xmlns:p14="http://schemas.microsoft.com/office/powerpoint/2010/main" val="3857122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DD1063F-9167-0B11-54E8-A4930784A17A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Taiyo Machine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C9131A-A40F-F4E4-3A88-211033EF948F}"/>
              </a:ext>
            </a:extLst>
          </p:cNvPr>
          <p:cNvGrpSpPr/>
          <p:nvPr/>
        </p:nvGrpSpPr>
        <p:grpSpPr>
          <a:xfrm>
            <a:off x="425589" y="1224563"/>
            <a:ext cx="5980810" cy="3385862"/>
            <a:chOff x="115190" y="598310"/>
            <a:chExt cx="5980810" cy="33858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D0DB3F3-AF2E-BAE1-C3B9-68E8F7F3B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190" y="598310"/>
              <a:ext cx="5980810" cy="338586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ACA70E-079C-A62D-6141-26A0CB1CA198}"/>
                </a:ext>
              </a:extLst>
            </p:cNvPr>
            <p:cNvSpPr/>
            <p:nvPr/>
          </p:nvSpPr>
          <p:spPr>
            <a:xfrm>
              <a:off x="4159250" y="3057525"/>
              <a:ext cx="508000" cy="3079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688FE6-6EB0-09D6-1B29-5840616F9115}"/>
                </a:ext>
              </a:extLst>
            </p:cNvPr>
            <p:cNvSpPr txBox="1"/>
            <p:nvPr/>
          </p:nvSpPr>
          <p:spPr>
            <a:xfrm>
              <a:off x="4138612" y="2795915"/>
              <a:ext cx="5492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</a:rPr>
                <a:t>Step 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A23B64-0E32-9776-3BBD-20C2B98A3618}"/>
                </a:ext>
              </a:extLst>
            </p:cNvPr>
            <p:cNvSpPr/>
            <p:nvPr/>
          </p:nvSpPr>
          <p:spPr>
            <a:xfrm>
              <a:off x="4671219" y="3057525"/>
              <a:ext cx="508000" cy="3079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24D8CF-E847-9FB0-FD34-3C8C8576EDFF}"/>
                </a:ext>
              </a:extLst>
            </p:cNvPr>
            <p:cNvSpPr txBox="1"/>
            <p:nvPr/>
          </p:nvSpPr>
          <p:spPr>
            <a:xfrm>
              <a:off x="4650581" y="2795915"/>
              <a:ext cx="5492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</a:rPr>
                <a:t>Step 2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DA7E864-10AB-3D42-9876-3848DB10AD6A}"/>
              </a:ext>
            </a:extLst>
          </p:cNvPr>
          <p:cNvSpPr txBox="1"/>
          <p:nvPr/>
        </p:nvSpPr>
        <p:spPr>
          <a:xfrm>
            <a:off x="425589" y="795235"/>
            <a:ext cx="5696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choose file that contain selected condition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481744-0A17-B228-0B8C-D8E777BF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680" y="1292935"/>
            <a:ext cx="3171570" cy="36123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CAAA5FA-ABEA-843C-B135-098E40EAB2A3}"/>
              </a:ext>
            </a:extLst>
          </p:cNvPr>
          <p:cNvSpPr txBox="1"/>
          <p:nvPr/>
        </p:nvSpPr>
        <p:spPr>
          <a:xfrm>
            <a:off x="7083680" y="855231"/>
            <a:ext cx="412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Click create CSV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B3B4B-0E06-5FB3-37CF-400A2E5C15E7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F5C71E-F24B-2563-DE2C-4725AD4E72F4}"/>
              </a:ext>
            </a:extLst>
          </p:cNvPr>
          <p:cNvSpPr/>
          <p:nvPr/>
        </p:nvSpPr>
        <p:spPr>
          <a:xfrm>
            <a:off x="7083680" y="1438382"/>
            <a:ext cx="126921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28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1DBCAC-096B-5086-B3A9-C8D753DF8B92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Taiyo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FD100-8761-B550-AB36-3F379C797192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1A043-FD6F-51D1-ACC8-BF91E40FB788}"/>
              </a:ext>
            </a:extLst>
          </p:cNvPr>
          <p:cNvSpPr txBox="1"/>
          <p:nvPr/>
        </p:nvSpPr>
        <p:spPr>
          <a:xfrm>
            <a:off x="230380" y="826884"/>
            <a:ext cx="481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Filter </a:t>
            </a:r>
            <a:r>
              <a:rPr lang="en-US" dirty="0" err="1"/>
              <a:t>PointNo</a:t>
            </a:r>
            <a:r>
              <a:rPr lang="en-US" dirty="0"/>
              <a:t> from Smallest to Largest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267973-F7C7-1B5A-0F62-CADDDBD87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453"/>
          <a:stretch/>
        </p:blipFill>
        <p:spPr>
          <a:xfrm>
            <a:off x="455995" y="1288549"/>
            <a:ext cx="2829320" cy="16818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46DC14-BF43-D1C4-9ABA-D8C866E5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657"/>
          <a:stretch/>
        </p:blipFill>
        <p:spPr>
          <a:xfrm>
            <a:off x="386110" y="3429000"/>
            <a:ext cx="4173440" cy="29480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3EB748-95EF-4CDC-1C24-7986451BB7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657"/>
          <a:stretch/>
        </p:blipFill>
        <p:spPr>
          <a:xfrm>
            <a:off x="5413704" y="3447703"/>
            <a:ext cx="3811712" cy="29480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5A91E4-4690-654E-AC1C-219FAE8A5F21}"/>
              </a:ext>
            </a:extLst>
          </p:cNvPr>
          <p:cNvSpPr txBox="1"/>
          <p:nvPr/>
        </p:nvSpPr>
        <p:spPr>
          <a:xfrm>
            <a:off x="5732434" y="826884"/>
            <a:ext cx="317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4: Do it for all 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4D0E2F-EE35-C62E-73B9-A33032EB7278}"/>
              </a:ext>
            </a:extLst>
          </p:cNvPr>
          <p:cNvSpPr txBox="1"/>
          <p:nvPr/>
        </p:nvSpPr>
        <p:spPr>
          <a:xfrm>
            <a:off x="230380" y="3078371"/>
            <a:ext cx="417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5: Copy resistance value to 1_tmp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2F0CAF-0B05-8D81-545C-4FB875CE0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49" y="1445331"/>
            <a:ext cx="1974770" cy="1494846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1D9051C2-F0BC-6A3F-CDF6-730DC49490F2}"/>
              </a:ext>
            </a:extLst>
          </p:cNvPr>
          <p:cNvSpPr/>
          <p:nvPr/>
        </p:nvSpPr>
        <p:spPr>
          <a:xfrm rot="16200000">
            <a:off x="4577175" y="4714412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9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AC19E7-80ED-307F-A2B0-A3CBF7E1C3C5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Taiyo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2C8BF-9982-64CA-13E1-4B8963940C90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7D121E-E52C-64AD-30A5-24A53A2B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05" b="53716"/>
          <a:stretch/>
        </p:blipFill>
        <p:spPr>
          <a:xfrm>
            <a:off x="698084" y="2212459"/>
            <a:ext cx="2078073" cy="2287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F90BF4-2419-A56D-9716-DB2B7E3D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720"/>
          <a:stretch/>
        </p:blipFill>
        <p:spPr>
          <a:xfrm>
            <a:off x="4357202" y="2294127"/>
            <a:ext cx="4416928" cy="2219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71AA94-F6D0-41C6-66CE-F349A8298F93}"/>
              </a:ext>
            </a:extLst>
          </p:cNvPr>
          <p:cNvSpPr txBox="1"/>
          <p:nvPr/>
        </p:nvSpPr>
        <p:spPr>
          <a:xfrm>
            <a:off x="459500" y="840130"/>
            <a:ext cx="10513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6: Open Calculate UCL,LCL file and input Net number/Pieces count/Column count in “Sap </a:t>
            </a:r>
            <a:r>
              <a:rPr lang="en-US" dirty="0" err="1"/>
              <a:t>xep</a:t>
            </a:r>
            <a:r>
              <a:rPr lang="en-US" dirty="0"/>
              <a:t>” Sheet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9CB097-DC3D-F184-C89B-FB700B825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70" y="1184769"/>
            <a:ext cx="2822929" cy="671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4228B1-37F5-9963-14A0-AE77A68EC5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4802"/>
          <a:stretch/>
        </p:blipFill>
        <p:spPr>
          <a:xfrm>
            <a:off x="899546" y="5226322"/>
            <a:ext cx="1976476" cy="11195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83E594-9447-ED2F-8CD0-A903D0575B64}"/>
              </a:ext>
            </a:extLst>
          </p:cNvPr>
          <p:cNvSpPr txBox="1"/>
          <p:nvPr/>
        </p:nvSpPr>
        <p:spPr>
          <a:xfrm>
            <a:off x="573870" y="4843492"/>
            <a:ext cx="460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8: Run the </a:t>
            </a:r>
            <a:r>
              <a:rPr lang="en-US" dirty="0" err="1"/>
              <a:t>marco</a:t>
            </a:r>
            <a:r>
              <a:rPr lang="en-US" dirty="0"/>
              <a:t> to convert data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3769E-5591-5B79-4AC4-3EE179A9CFEF}"/>
              </a:ext>
            </a:extLst>
          </p:cNvPr>
          <p:cNvSpPr txBox="1"/>
          <p:nvPr/>
        </p:nvSpPr>
        <p:spPr>
          <a:xfrm>
            <a:off x="459501" y="1843127"/>
            <a:ext cx="9208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7: Copy </a:t>
            </a:r>
            <a:r>
              <a:rPr lang="en-US" dirty="0" err="1"/>
              <a:t>PonitNo</a:t>
            </a:r>
            <a:r>
              <a:rPr lang="en-US" dirty="0"/>
              <a:t>, </a:t>
            </a:r>
            <a:r>
              <a:rPr lang="en-US" dirty="0" err="1"/>
              <a:t>Point+V</a:t>
            </a:r>
            <a:r>
              <a:rPr lang="en-US" dirty="0"/>
              <a:t>, Point-V to Net No, </a:t>
            </a:r>
            <a:r>
              <a:rPr lang="en-US" dirty="0" err="1"/>
              <a:t>PinA</a:t>
            </a:r>
            <a:r>
              <a:rPr lang="en-US" dirty="0"/>
              <a:t>, </a:t>
            </a:r>
            <a:r>
              <a:rPr lang="en-US" dirty="0" err="1"/>
              <a:t>PinB</a:t>
            </a:r>
            <a:r>
              <a:rPr lang="en-US" dirty="0"/>
              <a:t> &amp; Resistance Value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1C38FF1-6536-BB67-967C-6990C5885449}"/>
              </a:ext>
            </a:extLst>
          </p:cNvPr>
          <p:cNvSpPr/>
          <p:nvPr/>
        </p:nvSpPr>
        <p:spPr>
          <a:xfrm rot="16200000">
            <a:off x="3273007" y="3240363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69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C80A1F-B998-1BB6-5C58-05C1AE4D7786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Taiyo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89D6F-7FCD-0C36-A5E3-35C44FA1E39D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83C1E-F78A-CE9E-B650-2506534BEED2}"/>
              </a:ext>
            </a:extLst>
          </p:cNvPr>
          <p:cNvSpPr txBox="1"/>
          <p:nvPr/>
        </p:nvSpPr>
        <p:spPr>
          <a:xfrm>
            <a:off x="470110" y="875692"/>
            <a:ext cx="5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9:Copy all converted data to “</a:t>
            </a:r>
            <a:r>
              <a:rPr lang="en-US" dirty="0" err="1"/>
              <a:t>tinh</a:t>
            </a:r>
            <a:r>
              <a:rPr lang="en-US" dirty="0"/>
              <a:t> UCL,LCL” Sheet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C2A52-DF2F-134F-8631-9A40485C1A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908"/>
          <a:stretch/>
        </p:blipFill>
        <p:spPr>
          <a:xfrm>
            <a:off x="1024209" y="1245024"/>
            <a:ext cx="3147099" cy="2152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B6AF4-88D8-F49B-6A83-2087618D2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68"/>
          <a:stretch/>
        </p:blipFill>
        <p:spPr>
          <a:xfrm>
            <a:off x="5650787" y="1791713"/>
            <a:ext cx="5325218" cy="441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D56D7D-EF10-ED33-0C1C-E6719B18D503}"/>
              </a:ext>
            </a:extLst>
          </p:cNvPr>
          <p:cNvSpPr txBox="1"/>
          <p:nvPr/>
        </p:nvSpPr>
        <p:spPr>
          <a:xfrm>
            <a:off x="470110" y="3765023"/>
            <a:ext cx="518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10: Copy UCL, LCL data to “Calculate UCL,LCL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B64D4C-B958-E38D-7534-128305096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787" y="3429000"/>
            <a:ext cx="6112200" cy="301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12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A4E479-35A6-B839-733E-E22FF194F996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Taiyo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203AB-1638-1D52-FECF-1AF73D83A2EB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975E1-605F-397C-F6B8-885D041270DE}"/>
              </a:ext>
            </a:extLst>
          </p:cNvPr>
          <p:cNvSpPr txBox="1"/>
          <p:nvPr/>
        </p:nvSpPr>
        <p:spPr>
          <a:xfrm>
            <a:off x="452063" y="762762"/>
            <a:ext cx="670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Taiyo Machine’s deviation so we ±10 </a:t>
            </a:r>
            <a:r>
              <a:rPr lang="en-US" dirty="0" err="1"/>
              <a:t>mohm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BE98C-CC55-EEB7-A515-900941D43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3" y="1224564"/>
            <a:ext cx="5210316" cy="2671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22C27-7E86-56BB-3D7C-1E9846A5B297}"/>
              </a:ext>
            </a:extLst>
          </p:cNvPr>
          <p:cNvSpPr txBox="1"/>
          <p:nvPr/>
        </p:nvSpPr>
        <p:spPr>
          <a:xfrm>
            <a:off x="6096000" y="762762"/>
            <a:ext cx="5643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UCL higher than USL or LCL lower than LSL we will fix it to make sure UCL, LCL under USL, LSL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095997-2BBE-6635-7D0A-7D537481F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624" y="1511300"/>
            <a:ext cx="5134692" cy="314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A9447A-668D-5DCD-AA74-103B088678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71" b="15385"/>
          <a:stretch/>
        </p:blipFill>
        <p:spPr>
          <a:xfrm>
            <a:off x="6171624" y="2414576"/>
            <a:ext cx="5134692" cy="314369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CA898561-1424-8E68-97E6-9BAD8DB6B692}"/>
              </a:ext>
            </a:extLst>
          </p:cNvPr>
          <p:cNvSpPr/>
          <p:nvPr/>
        </p:nvSpPr>
        <p:spPr>
          <a:xfrm>
            <a:off x="9285212" y="1927876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009A4-B9B6-E22C-3E80-B6AEED6272B8}"/>
              </a:ext>
            </a:extLst>
          </p:cNvPr>
          <p:cNvSpPr txBox="1"/>
          <p:nvPr/>
        </p:nvSpPr>
        <p:spPr>
          <a:xfrm>
            <a:off x="452063" y="4551451"/>
            <a:ext cx="5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same apply for Impedance, </a:t>
            </a:r>
            <a:r>
              <a:rPr lang="en-US" dirty="0" err="1"/>
              <a:t>Minline</a:t>
            </a:r>
            <a:r>
              <a:rPr lang="en-US" dirty="0"/>
              <a:t>, Other Net</a:t>
            </a:r>
          </a:p>
        </p:txBody>
      </p:sp>
    </p:spTree>
    <p:extLst>
      <p:ext uri="{BB962C8B-B14F-4D97-AF65-F5344CB8AC3E}">
        <p14:creationId xmlns:p14="http://schemas.microsoft.com/office/powerpoint/2010/main" val="3136365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8B7277-9417-084B-18EC-20BAA0550DA3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Yamaha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7CD8A-EE4F-ADD2-7409-063E21F88E5D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D816BF-C2A7-A348-48D5-EA977A999BE1}"/>
              </a:ext>
            </a:extLst>
          </p:cNvPr>
          <p:cNvGrpSpPr/>
          <p:nvPr/>
        </p:nvGrpSpPr>
        <p:grpSpPr>
          <a:xfrm>
            <a:off x="365169" y="1418898"/>
            <a:ext cx="4457867" cy="3414685"/>
            <a:chOff x="488459" y="494223"/>
            <a:chExt cx="4457867" cy="341468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DE7401-BD51-88D7-3514-AACD14877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459" y="494223"/>
              <a:ext cx="4457867" cy="341468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83F812-AFBE-1C29-3B53-CF8B4DCDCB08}"/>
                </a:ext>
              </a:extLst>
            </p:cNvPr>
            <p:cNvSpPr/>
            <p:nvPr/>
          </p:nvSpPr>
          <p:spPr>
            <a:xfrm>
              <a:off x="2393879" y="967642"/>
              <a:ext cx="616449" cy="2036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E037B8-5D51-AD24-95E1-AD0230277E18}"/>
                </a:ext>
              </a:extLst>
            </p:cNvPr>
            <p:cNvSpPr/>
            <p:nvPr/>
          </p:nvSpPr>
          <p:spPr>
            <a:xfrm>
              <a:off x="2409167" y="1441061"/>
              <a:ext cx="616449" cy="2036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AABA6C-C71E-311A-28AD-9B600DDFB19A}"/>
                </a:ext>
              </a:extLst>
            </p:cNvPr>
            <p:cNvSpPr txBox="1"/>
            <p:nvPr/>
          </p:nvSpPr>
          <p:spPr>
            <a:xfrm>
              <a:off x="2935735" y="967642"/>
              <a:ext cx="5492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</a:rPr>
                <a:t>Step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088C22-5CDC-95BB-826E-C1E99EC950BA}"/>
                </a:ext>
              </a:extLst>
            </p:cNvPr>
            <p:cNvSpPr txBox="1"/>
            <p:nvPr/>
          </p:nvSpPr>
          <p:spPr>
            <a:xfrm>
              <a:off x="2969165" y="1412062"/>
              <a:ext cx="5492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F0000"/>
                  </a:solidFill>
                </a:rPr>
                <a:t>Step 2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0D95B45-67BA-D99D-FB07-02E844D23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850" y="1463895"/>
            <a:ext cx="3705742" cy="33696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9439FD-86A4-6AEF-2602-1C08042258B7}"/>
              </a:ext>
            </a:extLst>
          </p:cNvPr>
          <p:cNvSpPr txBox="1"/>
          <p:nvPr/>
        </p:nvSpPr>
        <p:spPr>
          <a:xfrm>
            <a:off x="365169" y="884230"/>
            <a:ext cx="5696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choose file that contain selected condition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2E36E8-E284-84F1-2268-10821E872AF0}"/>
              </a:ext>
            </a:extLst>
          </p:cNvPr>
          <p:cNvSpPr txBox="1"/>
          <p:nvPr/>
        </p:nvSpPr>
        <p:spPr>
          <a:xfrm>
            <a:off x="6061727" y="884230"/>
            <a:ext cx="412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Click Process Data</a:t>
            </a:r>
          </a:p>
        </p:txBody>
      </p:sp>
    </p:spTree>
    <p:extLst>
      <p:ext uri="{BB962C8B-B14F-4D97-AF65-F5344CB8AC3E}">
        <p14:creationId xmlns:p14="http://schemas.microsoft.com/office/powerpoint/2010/main" val="2063137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9ADEB-CA20-46C2-09B6-A4A26A0860A8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Yamaha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58CB9-B147-67CF-A722-F09BE47A5D2B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7952B7-9F53-64A9-27B9-A3361734F512}"/>
              </a:ext>
            </a:extLst>
          </p:cNvPr>
          <p:cNvSpPr txBox="1"/>
          <p:nvPr/>
        </p:nvSpPr>
        <p:spPr>
          <a:xfrm>
            <a:off x="447819" y="834532"/>
            <a:ext cx="685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Process we will have 1 file “Merge” and other Processed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711627-86F9-036D-399A-C795D3DF5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677"/>
          <a:stretch/>
        </p:blipFill>
        <p:spPr>
          <a:xfrm>
            <a:off x="601930" y="1203864"/>
            <a:ext cx="5254340" cy="131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FF17E-AB54-AF10-E3F0-18640173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259"/>
          <a:stretch/>
        </p:blipFill>
        <p:spPr>
          <a:xfrm>
            <a:off x="601932" y="3296874"/>
            <a:ext cx="2607180" cy="2910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557063-1CC4-4BF8-A929-8F5DA6493CF4}"/>
              </a:ext>
            </a:extLst>
          </p:cNvPr>
          <p:cNvSpPr txBox="1"/>
          <p:nvPr/>
        </p:nvSpPr>
        <p:spPr>
          <a:xfrm>
            <a:off x="447819" y="2604220"/>
            <a:ext cx="5993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Step 3: Choose </a:t>
            </a:r>
            <a:r>
              <a:rPr lang="en-US" sz="1600" dirty="0" err="1"/>
              <a:t>merged_file</a:t>
            </a:r>
            <a:endParaRPr lang="en-US" sz="1600" dirty="0"/>
          </a:p>
          <a:p>
            <a:r>
              <a:rPr lang="en-US" sz="1600" dirty="0"/>
              <a:t>Filter column Method -&gt; choose 3 (3 mean 4Wire, 2 mean 2Wire)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EDE1B-9AEC-5D57-7A37-BC8E4C8118D9}"/>
              </a:ext>
            </a:extLst>
          </p:cNvPr>
          <p:cNvSpPr txBox="1"/>
          <p:nvPr/>
        </p:nvSpPr>
        <p:spPr>
          <a:xfrm>
            <a:off x="6441572" y="2658159"/>
            <a:ext cx="56511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Step 4: Insert a new column on the left side of Pin A column</a:t>
            </a:r>
          </a:p>
          <a:p>
            <a:r>
              <a:rPr lang="en-US" sz="1600" dirty="0"/>
              <a:t>Numbered sequentially Net no (Ex: 1 to 69)</a:t>
            </a:r>
          </a:p>
          <a:p>
            <a:r>
              <a:rPr lang="en-US" sz="1600" dirty="0"/>
              <a:t>Check at the end of column: If the end is 69 that is correct, if not check the Net number again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24C583-D6E8-751A-48FD-BC288A0A0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152" y="3735377"/>
            <a:ext cx="2333951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39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2BCD85-26E8-C8AE-0B12-3365B0750334}"/>
              </a:ext>
            </a:extLst>
          </p:cNvPr>
          <p:cNvSpPr txBox="1"/>
          <p:nvPr/>
        </p:nvSpPr>
        <p:spPr>
          <a:xfrm>
            <a:off x="230380" y="485899"/>
            <a:ext cx="598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Yamaha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3CD200-D702-FABF-4BA6-8DE69627AE9B}"/>
              </a:ext>
            </a:extLst>
          </p:cNvPr>
          <p:cNvSpPr txBox="1"/>
          <p:nvPr/>
        </p:nvSpPr>
        <p:spPr>
          <a:xfrm>
            <a:off x="0" y="11656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II. Collect logfile for Impedance, Min Line, Other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458A2-025F-EC7A-D934-55A28FE34454}"/>
              </a:ext>
            </a:extLst>
          </p:cNvPr>
          <p:cNvSpPr txBox="1"/>
          <p:nvPr/>
        </p:nvSpPr>
        <p:spPr>
          <a:xfrm>
            <a:off x="419895" y="855231"/>
            <a:ext cx="1090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5: Copy and Transpose all data to “</a:t>
            </a:r>
            <a:r>
              <a:rPr lang="en-US" dirty="0" err="1"/>
              <a:t>tinh</a:t>
            </a:r>
            <a:r>
              <a:rPr lang="en-US" dirty="0"/>
              <a:t> UCL,LCL” Sheet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54828-DDA3-1D2B-8BAB-92BDAD79B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94" y="1458903"/>
            <a:ext cx="3402093" cy="2500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28CF54-600F-F638-568A-908221B6E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392" y="1502202"/>
            <a:ext cx="3402093" cy="2457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DA2B98-5348-A7E6-6EA8-AE7C4EF85CB6}"/>
              </a:ext>
            </a:extLst>
          </p:cNvPr>
          <p:cNvSpPr txBox="1"/>
          <p:nvPr/>
        </p:nvSpPr>
        <p:spPr>
          <a:xfrm>
            <a:off x="645559" y="4791496"/>
            <a:ext cx="1090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Step 6 do exactly the same like Taiyo Machine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B2698B-524C-6C49-528F-132E986F7E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922"/>
          <a:stretch/>
        </p:blipFill>
        <p:spPr>
          <a:xfrm>
            <a:off x="4510143" y="1502202"/>
            <a:ext cx="3402093" cy="2457657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9227B347-8433-39B2-CA92-174AA67E438C}"/>
              </a:ext>
            </a:extLst>
          </p:cNvPr>
          <p:cNvSpPr/>
          <p:nvPr/>
        </p:nvSpPr>
        <p:spPr>
          <a:xfrm rot="16200000">
            <a:off x="3756613" y="2520744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132A228-27EE-BD48-40CC-7B032D093F39}"/>
              </a:ext>
            </a:extLst>
          </p:cNvPr>
          <p:cNvSpPr/>
          <p:nvPr/>
        </p:nvSpPr>
        <p:spPr>
          <a:xfrm rot="16200000">
            <a:off x="7846862" y="2520744"/>
            <a:ext cx="818903" cy="377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89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973BBE-CE30-3748-E987-B5D4630F1A00}"/>
              </a:ext>
            </a:extLst>
          </p:cNvPr>
          <p:cNvSpPr txBox="1"/>
          <p:nvPr/>
        </p:nvSpPr>
        <p:spPr>
          <a:xfrm>
            <a:off x="0" y="1232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Finally paste all the UCL, LCL from Calculate file back to DCR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5D07A-24AF-7A0B-1104-D86D0C45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818233"/>
            <a:ext cx="10936226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5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1389</Words>
  <Application>Microsoft Office PowerPoint</Application>
  <PresentationFormat>Widescreen</PresentationFormat>
  <Paragraphs>149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メイリオ</vt:lpstr>
      <vt:lpstr>ＭＳ Ｐゴシック</vt:lpstr>
      <vt:lpstr>Arial</vt:lpstr>
      <vt:lpstr>Calibri</vt:lpstr>
      <vt:lpstr>Calibri Light</vt:lpstr>
      <vt:lpstr>Verdana</vt:lpstr>
      <vt:lpstr>Office Theme</vt:lpstr>
      <vt:lpstr>PE MO – Checker Process Part 1: Prepare DCR Format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 MO – Checker Process Part 2: Calculate 3 Sigma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Quang Vinh 01576</dc:creator>
  <cp:lastModifiedBy>Le Quang Vinh</cp:lastModifiedBy>
  <cp:revision>9</cp:revision>
  <dcterms:created xsi:type="dcterms:W3CDTF">2025-12-25T01:10:59Z</dcterms:created>
  <dcterms:modified xsi:type="dcterms:W3CDTF">2025-12-27T07:53:32Z</dcterms:modified>
</cp:coreProperties>
</file>